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</p:sldIdLst>
  <p:sldSz cx="30275213" cy="42803763"/>
  <p:notesSz cx="6858000" cy="9144000"/>
  <p:defaultTextStyle>
    <a:defPPr>
      <a:defRPr lang="en-US"/>
    </a:defPPr>
    <a:lvl1pPr marL="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1">
          <p15:clr>
            <a:srgbClr val="A4A3A4"/>
          </p15:clr>
        </p15:guide>
        <p15:guide id="2" pos="953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40" d="100"/>
          <a:sy n="40" d="100"/>
        </p:scale>
        <p:origin x="43" y="48"/>
      </p:cViewPr>
      <p:guideLst>
        <p:guide orient="horz" pos="13481"/>
        <p:guide pos="95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76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87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39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88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7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8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1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9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09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57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C8EB3-3B5D-4092-A3AD-724591FCF587}" type="datetimeFigureOut">
              <a:rPr lang="en-US" smtClean="0"/>
              <a:pPr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82547-EB0B-4383-9D42-B576481124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83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22319" y="3720662"/>
            <a:ext cx="29170319" cy="21525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 OF POSTER</a:t>
            </a:r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names and affiliations (</a:t>
            </a:r>
            <a:r>
              <a:rPr lang="en-IN" sz="4000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underline</a:t>
            </a:r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name of presenting author)</a:t>
            </a:r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373329" y="40886"/>
            <a:ext cx="3484589" cy="353943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4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ID</a:t>
            </a:r>
            <a:endParaRPr lang="en-US" sz="4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2319" y="5987387"/>
            <a:ext cx="14312097" cy="95822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 AND PROBLEM STATEMENT</a:t>
            </a: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 with a Picture/Table/Chart, as required</a:t>
            </a: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2319" y="16127806"/>
            <a:ext cx="14364470" cy="2237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Methodology Followed.</a:t>
            </a:r>
          </a:p>
          <a:p>
            <a:pPr algn="ctr"/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Chart(s)/Flowsheet(s)/Picture(s) of Experimental Setup/Simulation Framework. </a:t>
            </a:r>
          </a:p>
          <a:p>
            <a:pPr algn="ctr"/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Text Sparingly. </a:t>
            </a:r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5621819" y="5987387"/>
            <a:ext cx="14192273" cy="24807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 AND DISCUSSION</a:t>
            </a:r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lang="en-IN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Chart(s)/Flowsheet(s)/Picture(s) of </a:t>
            </a:r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Findings of the Study</a:t>
            </a:r>
          </a:p>
          <a:p>
            <a:pPr algn="ctr"/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of bulleted points, avoiding the detailed explanation, is recommended. </a:t>
            </a: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5621819" y="31443235"/>
            <a:ext cx="14196218" cy="108313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4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AND FUTURE OUTLOOK</a:t>
            </a:r>
          </a:p>
          <a:p>
            <a:pPr algn="ctr"/>
            <a:endParaRPr lang="en-IN" sz="4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4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Points in Bullet Points</a:t>
            </a: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6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4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2319" y="39243108"/>
            <a:ext cx="14364470" cy="30314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IN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</a:p>
          <a:p>
            <a:pPr marL="457200" indent="-457200" algn="just">
              <a:buAutoNum type="arabicPeriod"/>
            </a:pPr>
            <a:r>
              <a:rPr lang="en-IN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Books (in any standard format)</a:t>
            </a:r>
          </a:p>
          <a:p>
            <a:pPr marL="457200" indent="-457200" algn="just">
              <a:buAutoNum type="arabicPeriod"/>
            </a:pPr>
            <a:r>
              <a:rPr lang="en-IN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Journal articles, etc. (in any standard format)</a:t>
            </a:r>
          </a:p>
          <a:p>
            <a:pPr marL="457200" indent="-457200" algn="just"/>
            <a:r>
              <a:rPr lang="en-US" sz="2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----maximum 4 references----</a:t>
            </a:r>
            <a:endParaRPr lang="en-IN" sz="24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IN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IN" sz="24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Funding for the work may be acknowledged in this space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794134"/>
            <a:ext cx="30275213" cy="1154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622320" y="40886"/>
            <a:ext cx="25685730" cy="353943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tabLst>
                <a:tab pos="3079750" algn="l"/>
              </a:tabLst>
            </a:pPr>
            <a:r>
              <a:rPr lang="en-US" sz="440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3</a:t>
            </a:r>
            <a:r>
              <a:rPr lang="en-US" sz="4400" b="1" baseline="30000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rd</a:t>
            </a:r>
            <a:r>
              <a:rPr lang="en-US" sz="440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 International Conference on </a:t>
            </a: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Sustainable Environment &amp; Energy </a:t>
            </a:r>
            <a:r>
              <a:rPr lang="en-US" sz="4400" b="1" dirty="0" smtClean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Times New Roman" pitchFamily="18" charset="0"/>
                <a:cs typeface="Calibri" pitchFamily="34" charset="0"/>
              </a:rPr>
              <a:t>Innovations</a:t>
            </a:r>
          </a:p>
          <a:p>
            <a:pPr lvl="0" algn="ctr" defTabSz="914400" fontAlgn="base">
              <a:spcBef>
                <a:spcPct val="0"/>
              </a:spcBef>
              <a:spcAft>
                <a:spcPct val="0"/>
              </a:spcAft>
              <a:tabLst>
                <a:tab pos="3079750" algn="l"/>
              </a:tabLst>
            </a:pPr>
            <a:r>
              <a:rPr kumimoji="0" lang="en-US" sz="44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 (</a:t>
            </a:r>
            <a:r>
              <a:rPr kumimoji="0" lang="en-US" sz="44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CHEM-CONFLUX</a:t>
            </a:r>
            <a:r>
              <a:rPr kumimoji="0" lang="en-US" sz="4400" b="1" i="0" u="none" strike="noStrike" cap="none" normalizeH="0" baseline="3000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26</a:t>
            </a:r>
            <a:r>
              <a:rPr kumimoji="0" lang="en-US" sz="44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)</a:t>
            </a:r>
            <a:endParaRPr kumimoji="0" lang="en-US" sz="66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79750" algn="l"/>
              </a:tabLst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October 22-24, 2026</a:t>
            </a: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79750" algn="l"/>
              </a:tabLs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Department of Chemical Engineering</a:t>
            </a:r>
            <a:endParaRPr kumimoji="0" 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79750" algn="l"/>
              </a:tabLs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Motilal Nehru National Institute of Technology (MNNIT)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Allahabad</a:t>
            </a:r>
            <a:endParaRPr kumimoji="0" lang="en-US" sz="6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079750" algn="l"/>
              </a:tabLst>
            </a:pP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effectLst/>
                <a:latin typeface="Arial" pitchFamily="34" charset="0"/>
                <a:ea typeface="Times New Roman" pitchFamily="18" charset="0"/>
                <a:cs typeface="Calibri" pitchFamily="34" charset="0"/>
              </a:rPr>
              <a:t>Prayagraj (U.P.) - 211004, INDIA</a:t>
            </a:r>
            <a:endParaRPr kumimoji="0" 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5699" y="393490"/>
            <a:ext cx="2302981" cy="31111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8125" y="1123949"/>
            <a:ext cx="5289923" cy="173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1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3207487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1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Instructions </a:t>
            </a:r>
            <a:r>
              <a:rPr lang="en-US" sz="11500" b="1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115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poster presentation</a:t>
            </a:r>
            <a:endParaRPr lang="en-US" sz="1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1420" y="7254320"/>
            <a:ext cx="26112371" cy="3264908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lvl="0" algn="just"/>
            <a:r>
              <a:rPr lang="en-IN" sz="8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en-IN" sz="8800" b="1" dirty="0">
                <a:latin typeface="Arial" panose="020B0604020202020204" pitchFamily="34" charset="0"/>
                <a:cs typeface="Arial" panose="020B0604020202020204" pitchFamily="34" charset="0"/>
              </a:rPr>
              <a:t>not simply transfer your manuscript onto the poster.</a:t>
            </a:r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 The conference explicitly limits the amount of text.</a:t>
            </a:r>
          </a:p>
          <a:p>
            <a:pPr lvl="0" algn="just"/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Aim for </a:t>
            </a:r>
            <a:r>
              <a:rPr lang="en-IN" sz="8800" b="1" dirty="0">
                <a:latin typeface="Arial" panose="020B0604020202020204" pitchFamily="34" charset="0"/>
                <a:cs typeface="Arial" panose="020B0604020202020204" pitchFamily="34" charset="0"/>
              </a:rPr>
              <a:t>short paragraphs, bullet points, figures and visual summaries</a:t>
            </a:r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/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Every figure/table should stand on its own with a clear </a:t>
            </a:r>
            <a:r>
              <a:rPr lang="en-IN" sz="8800" b="1" dirty="0">
                <a:latin typeface="Arial" panose="020B0604020202020204" pitchFamily="34" charset="0"/>
                <a:cs typeface="Arial" panose="020B0604020202020204" pitchFamily="34" charset="0"/>
              </a:rPr>
              <a:t>caption</a:t>
            </a:r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/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Every graph needs properly labelled </a:t>
            </a:r>
            <a:r>
              <a:rPr lang="en-IN" sz="8800" b="1" dirty="0">
                <a:latin typeface="Arial" panose="020B0604020202020204" pitchFamily="34" charset="0"/>
                <a:cs typeface="Arial" panose="020B0604020202020204" pitchFamily="34" charset="0"/>
              </a:rPr>
              <a:t>X and Y axes</a:t>
            </a:r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, including units where applicable.</a:t>
            </a:r>
          </a:p>
          <a:p>
            <a:pPr lvl="0" algn="just"/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Keep tables simple. </a:t>
            </a:r>
            <a:r>
              <a:rPr lang="en-IN" sz="8800" b="1" dirty="0">
                <a:latin typeface="Arial" panose="020B0604020202020204" pitchFamily="34" charset="0"/>
                <a:cs typeface="Arial" panose="020B0604020202020204" pitchFamily="34" charset="0"/>
              </a:rPr>
              <a:t>Four columns or fewer</a:t>
            </a:r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 is preferred.</a:t>
            </a:r>
          </a:p>
          <a:p>
            <a:pPr lvl="0" algn="just"/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Use colour strategically rather than decorating the entire poster.</a:t>
            </a:r>
          </a:p>
          <a:p>
            <a:pPr lvl="0" algn="just"/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Make sure someone standing several feet away can immediately identify the </a:t>
            </a:r>
            <a:r>
              <a:rPr lang="en-IN" sz="8800" b="1" dirty="0">
                <a:latin typeface="Arial" panose="020B0604020202020204" pitchFamily="34" charset="0"/>
                <a:cs typeface="Arial" panose="020B0604020202020204" pitchFamily="34" charset="0"/>
              </a:rPr>
              <a:t>title, objective, major result and conclusion</a:t>
            </a:r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just"/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Since the poster is approximately </a:t>
            </a:r>
            <a:r>
              <a:rPr lang="en-IN" sz="8800" b="1" dirty="0">
                <a:latin typeface="Arial" panose="020B0604020202020204" pitchFamily="34" charset="0"/>
                <a:cs typeface="Arial" panose="020B0604020202020204" pitchFamily="34" charset="0"/>
              </a:rPr>
              <a:t>A0 portrait</a:t>
            </a:r>
            <a:r>
              <a:rPr lang="en-IN" sz="8800" dirty="0">
                <a:latin typeface="Arial" panose="020B0604020202020204" pitchFamily="34" charset="0"/>
                <a:cs typeface="Arial" panose="020B0604020202020204" pitchFamily="34" charset="0"/>
              </a:rPr>
              <a:t>, the layout should be designed for that physical size rather than creating a smaller document and enlarging it later.</a:t>
            </a:r>
          </a:p>
          <a:p>
            <a:pPr marL="0" indent="0" algn="just">
              <a:buNone/>
            </a:pPr>
            <a:endParaRPr lang="en-US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405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274</TotalTime>
  <Words>294</Words>
  <Application>Microsoft Office PowerPoint</Application>
  <PresentationFormat>Custom</PresentationFormat>
  <Paragraphs>132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Instructions for poster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Karthick S</dc:creator>
  <cp:lastModifiedBy>Karthick Senthilkumar</cp:lastModifiedBy>
  <cp:revision>60</cp:revision>
  <dcterms:created xsi:type="dcterms:W3CDTF">2017-05-07T17:47:13Z</dcterms:created>
  <dcterms:modified xsi:type="dcterms:W3CDTF">2026-10-08T16:12:36Z</dcterms:modified>
</cp:coreProperties>
</file>